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29335C"/>
                </a:solidFill>
              </a:defRPr>
            </a:pPr>
            <a:r>
              <a:t>ПРОДВИНУТЫЕ ТЕХНИКИ</a:t>
            </a:r>
          </a:p>
          <a:p>
            <a:r>
              <a:t>ПРОМПТИНГА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41148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646464"/>
                </a:solidFill>
              </a:defRPr>
            </a:pPr>
            <a:r>
              <a:t>Модуль 3 | Заставляем модель думать вслух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ПРОБЛЕМА ОБЫЧНОГО ПРОМПТИНГА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 b="1">
                <a:solidFill>
                  <a:srgbClr val="C80000"/>
                </a:solidFill>
              </a:defRPr>
            </a:pPr>
            <a:r>
              <a:t>❌ ОБЫЧНЫЙ ПРОМПТ:</a:t>
            </a:r>
          </a:p>
          <a:p>
            <a:pPr lvl="1">
              <a:defRPr sz="1800"/>
            </a:pPr>
            <a:r>
              <a:t>   "Реши: У Маши было 5 яблок.</a:t>
            </a:r>
          </a:p>
          <a:p>
            <a:pPr lvl="1">
              <a:defRPr sz="1800"/>
            </a:pPr>
            <a:r>
              <a:t>   Она съела 2. Сколько осталось?"</a:t>
            </a:r>
          </a:p>
          <a:p/>
          <a:p>
            <a:pPr lvl="1">
              <a:defRPr sz="2000"/>
            </a:pPr>
            <a:r>
              <a:t>Ответ: '3'</a:t>
            </a:r>
          </a:p>
          <a:p/>
          <a:p>
            <a:pPr>
              <a:defRPr sz="2000" i="1">
                <a:solidFill>
                  <a:srgbClr val="960000"/>
                </a:solidFill>
              </a:defRPr>
            </a:pPr>
            <a:r>
              <a:t>Проблема: Нет рассуждения, не видно логики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CHAIN-OF-THOUGHT (COT)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Идея: Заставить модель показывать процесс рассуждения пошагово</a:t>
            </a:r>
          </a:p>
          <a:p/>
          <a:p>
            <a:pPr>
              <a:defRPr sz="2400" b="1"/>
            </a:pPr>
            <a:r>
              <a:t>Формула:</a:t>
            </a:r>
          </a:p>
          <a:p>
            <a:pPr lvl="1">
              <a:defRPr sz="2000"/>
            </a:pPr>
            <a:r>
              <a:t>   Задача + 'Давайте рассуждать пошагово'</a:t>
            </a:r>
          </a:p>
          <a:p>
            <a:pPr lvl="1">
              <a:defRPr sz="2000"/>
            </a:pPr>
            <a:r>
              <a:t>   = Пошаговое решение</a:t>
            </a:r>
          </a:p>
          <a:p/>
          <a:p>
            <a:pPr>
              <a:defRPr sz="2000" b="1">
                <a:solidFill>
                  <a:srgbClr val="009600"/>
                </a:solidFill>
              </a:defRPr>
            </a:pPr>
            <a:r>
              <a:t>Результаты точнее на 20-30%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ПРИМЕР COT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 b="1">
                <a:solidFill>
                  <a:srgbClr val="009600"/>
                </a:solidFill>
              </a:defRPr>
            </a:pPr>
            <a:r>
              <a:t>✅ ПРОМПТ С COT:</a:t>
            </a:r>
          </a:p>
          <a:p>
            <a:pPr lvl="1">
              <a:defRPr sz="1700"/>
            </a:pPr>
            <a:r>
              <a:t>   "Реши, рассуждая пошагово:</a:t>
            </a:r>
          </a:p>
          <a:p>
            <a:pPr lvl="1">
              <a:defRPr sz="1700"/>
            </a:pPr>
            <a:r>
              <a:t>   У Маши было 5 яблок...</a:t>
            </a:r>
          </a:p>
          <a:p/>
          <a:p>
            <a:pPr>
              <a:defRPr sz="2200" b="1">
                <a:solidFill>
                  <a:srgbClr val="009600"/>
                </a:solidFill>
              </a:defRPr>
            </a:pPr>
            <a:r>
              <a:t>✅ ОТВЕТ:</a:t>
            </a:r>
          </a:p>
          <a:p>
            <a:pPr lvl="1">
              <a:defRPr sz="1800"/>
            </a:pPr>
            <a:r>
              <a:t>   Шаг 1: 5 яблок</a:t>
            </a:r>
          </a:p>
          <a:p>
            <a:pPr lvl="1">
              <a:defRPr sz="1800"/>
            </a:pPr>
            <a:r>
              <a:t>   Шаг 2: Съела 2</a:t>
            </a:r>
          </a:p>
          <a:p>
            <a:pPr lvl="1">
              <a:defRPr sz="1800"/>
            </a:pPr>
            <a:r>
              <a:t>   Шаг 3: 5 - 2 = 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COT ДЛЯ СЛОЖНЫХ ЗАДАЧ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 b="1"/>
            </a:pPr>
            <a:r>
              <a:t>Для сложных задач CoT необходим!</a:t>
            </a:r>
          </a:p>
          <a:p/>
          <a:p>
            <a:pPr>
              <a:defRPr sz="2200"/>
            </a:pPr>
            <a:r>
              <a:t>Покажи:</a:t>
            </a:r>
          </a:p>
          <a:p>
            <a:pPr lvl="1">
              <a:defRPr sz="2000"/>
            </a:pPr>
            <a:r>
              <a:t>1. Что известно</a:t>
            </a:r>
          </a:p>
          <a:p>
            <a:pPr lvl="1">
              <a:defRPr sz="2000"/>
            </a:pPr>
            <a:r>
              <a:t>2. Что нужно найти</a:t>
            </a:r>
          </a:p>
          <a:p>
            <a:pPr lvl="1">
              <a:defRPr sz="2000"/>
            </a:pPr>
            <a:r>
              <a:t>3. Каждый шаг решения</a:t>
            </a:r>
          </a:p>
          <a:p>
            <a:pPr lvl="1">
              <a:defRPr sz="2000"/>
            </a:pPr>
            <a:r>
              <a:t>4. Проверку ответа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TREE OF THOUGHTS (TOT)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Идея: Генерировать несколько вариантов решения, затем выбрать лучший</a:t>
            </a:r>
          </a:p>
          <a:p/>
          <a:p>
            <a:pPr>
              <a:defRPr sz="2200" b="1"/>
            </a:pPr>
            <a:r>
              <a:t>Когда использовать:</a:t>
            </a:r>
          </a:p>
          <a:p>
            <a:pPr lvl="1">
              <a:defRPr sz="2000"/>
            </a:pPr>
            <a:r>
              <a:t>• Творческие задачи</a:t>
            </a:r>
          </a:p>
          <a:p>
            <a:pPr lvl="1">
              <a:defRPr sz="2000"/>
            </a:pPr>
            <a:r>
              <a:t>• Задачи с множественными решениями</a:t>
            </a:r>
          </a:p>
          <a:p>
            <a:pPr lvl="1">
              <a:defRPr sz="2000"/>
            </a:pPr>
            <a:r>
              <a:t>• Когда нет одного 'правильного' ответа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SELF-CONSISTENCY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Идея: Запустить промпт несколько раз и выбрать наиболее частый ответ</a:t>
            </a:r>
          </a:p>
          <a:p/>
          <a:p>
            <a:pPr>
              <a:defRPr sz="2200" b="1"/>
            </a:pPr>
            <a:r>
              <a:t>Метод:</a:t>
            </a:r>
          </a:p>
          <a:p>
            <a:pPr lvl="1">
              <a:defRPr sz="2000"/>
            </a:pPr>
            <a:r>
              <a:t>1. Запустить промпт 3-5 раз</a:t>
            </a:r>
          </a:p>
          <a:p>
            <a:pPr lvl="1">
              <a:defRPr sz="2000"/>
            </a:pPr>
            <a:r>
              <a:t>2. Собрать ответы</a:t>
            </a:r>
          </a:p>
          <a:p>
            <a:pPr lvl="1">
              <a:defRPr sz="2000"/>
            </a:pPr>
            <a:r>
              <a:t>3. Выбрать наиболее частый ответ (консенсус)</a:t>
            </a:r>
          </a:p>
          <a:p/>
          <a:p>
            <a:pPr>
              <a:defRPr sz="1800" i="1"/>
            </a:pPr>
            <a:r>
              <a:t>Когда: Критически важные задачи, нужна точность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REACT (REASONING + ACTING)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Идея: Чередовать рассуждение и действие в цикле</a:t>
            </a:r>
          </a:p>
          <a:p/>
          <a:p>
            <a:pPr>
              <a:defRPr sz="2200" b="1"/>
            </a:pPr>
            <a:r>
              <a:t>Структура:</a:t>
            </a:r>
          </a:p>
          <a:p>
            <a:pPr lvl="1">
              <a:defRPr sz="2000"/>
            </a:pPr>
            <a:r>
              <a:t>1. Thought (Думаю) - анализ ситуации</a:t>
            </a:r>
          </a:p>
          <a:p>
            <a:pPr lvl="1">
              <a:defRPr sz="2000"/>
            </a:pPr>
            <a:r>
              <a:t>2. Action (Действую) - конкретное действие</a:t>
            </a:r>
          </a:p>
          <a:p>
            <a:pPr lvl="1">
              <a:defRPr sz="2000"/>
            </a:pPr>
            <a:r>
              <a:t>3. Observation (Наблюдаю) - результат</a:t>
            </a:r>
          </a:p>
          <a:p>
            <a:pPr lvl="1">
              <a:defRPr sz="2000"/>
            </a:pPr>
            <a:r>
              <a:t>4. Повтор до решения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META-PROMPTING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Идея: Промпт, который создает промпты</a:t>
            </a:r>
          </a:p>
          <a:p/>
          <a:p>
            <a:pPr>
              <a:defRPr sz="2200" b="1"/>
            </a:pPr>
            <a:r>
              <a:t>Пример:</a:t>
            </a:r>
          </a:p>
          <a:p>
            <a:pPr lvl="1">
              <a:defRPr sz="1800"/>
            </a:pPr>
            <a:r>
              <a:t>   "Ты – эксперт по промптам.</a:t>
            </a:r>
          </a:p>
          <a:p>
            <a:pPr lvl="1">
              <a:defRPr sz="1800"/>
            </a:pPr>
            <a:r>
              <a:t>   Создай промпт для задачи X,</a:t>
            </a:r>
          </a:p>
          <a:p>
            <a:pPr lvl="1">
              <a:defRPr sz="1800"/>
            </a:pPr>
            <a:r>
              <a:t>   используя CoT и JSON-вывод"</a:t>
            </a:r>
          </a:p>
          <a:p/>
          <a:p>
            <a:pPr>
              <a:defRPr sz="1800" i="1"/>
            </a:pPr>
            <a:r>
              <a:t>Рефлексия: Модель анализирует свой ответ и улучшает его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КОГДА ИСПОЛЬЗОВАТЬ КАКУЮ ТЕХНИКУ?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CoT → Сложные задачи с вычислениями</a:t>
            </a:r>
          </a:p>
          <a:p/>
          <a:p>
            <a:pPr>
              <a:defRPr sz="2000"/>
            </a:pPr>
            <a:r>
              <a:t>ToT → Творческие задачи, множественные варианты</a:t>
            </a:r>
          </a:p>
          <a:p/>
          <a:p>
            <a:pPr>
              <a:defRPr sz="2000"/>
            </a:pPr>
            <a:r>
              <a:t>Self-Consistency → Критически важные задачи</a:t>
            </a:r>
          </a:p>
          <a:p/>
          <a:p>
            <a:pPr>
              <a:defRPr sz="2000"/>
            </a:pPr>
            <a:r>
              <a:t>ReAct → Динамические задачи, итеративные действия</a:t>
            </a:r>
          </a:p>
          <a:p/>
          <a:p>
            <a:pPr>
              <a:defRPr sz="2000"/>
            </a:pPr>
            <a:r>
              <a:t>Meta-prompting → Создание промптов автоматически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КОМБИНИРОВАНИЕ ТЕХНИК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 b="1"/>
            </a:pPr>
            <a:r>
              <a:t>Пример 1: CoT + Self-Consistency</a:t>
            </a:r>
          </a:p>
          <a:p>
            <a:pPr lvl="1">
              <a:defRPr sz="1800"/>
            </a:pPr>
            <a:r>
              <a:t>1. Используйте CoT для пошагового решения</a:t>
            </a:r>
          </a:p>
          <a:p>
            <a:pPr lvl="1">
              <a:defRPr sz="1800"/>
            </a:pPr>
            <a:r>
              <a:t>2. Запустите несколько раз</a:t>
            </a:r>
          </a:p>
          <a:p>
            <a:pPr lvl="1">
              <a:defRPr sz="1800"/>
            </a:pPr>
            <a:r>
              <a:t>3. Выберите наиболее логичное решение</a:t>
            </a:r>
          </a:p>
          <a:p/>
          <a:p>
            <a:pPr>
              <a:defRPr sz="2200" b="1"/>
            </a:pPr>
            <a:r>
              <a:t>Пример 2: ToT + CoT</a:t>
            </a:r>
          </a:p>
          <a:p>
            <a:pPr lvl="1">
              <a:defRPr sz="1800"/>
            </a:pPr>
            <a:r>
              <a:t>1. ToT генерирует варианты</a:t>
            </a:r>
          </a:p>
          <a:p>
            <a:pPr lvl="1">
              <a:defRPr sz="1800"/>
            </a:pPr>
            <a:r>
              <a:t>2. CoT анализирует каждый вариант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7 ПРАВИЛ ПРОДВИНУТОГО ПРОМПТИНГА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1. Всегда используйте CoT для сложных задач</a:t>
            </a:r>
          </a:p>
          <a:p>
            <a:pPr>
              <a:defRPr sz="1800"/>
            </a:pPr>
            <a:r>
              <a:t>2. Проверяйте рассуждение модели</a:t>
            </a:r>
          </a:p>
          <a:p>
            <a:pPr>
              <a:defRPr sz="1800"/>
            </a:pPr>
            <a:r>
              <a:t>3. Для критичных задач - Self-Consistency (3-5 запусков)</a:t>
            </a:r>
          </a:p>
          <a:p>
            <a:pPr>
              <a:defRPr sz="1800"/>
            </a:pPr>
            <a:r>
              <a:t>4. ToT - для задач без единственного правильного ответа</a:t>
            </a:r>
          </a:p>
          <a:p>
            <a:pPr>
              <a:defRPr sz="1800"/>
            </a:pPr>
            <a:r>
              <a:t>5. ReAct - для динамических задач</a:t>
            </a:r>
          </a:p>
          <a:p>
            <a:pPr>
              <a:defRPr sz="1800"/>
            </a:pPr>
            <a:r>
              <a:t>6. Комбинируйте техники для максимального эффекта</a:t>
            </a:r>
          </a:p>
          <a:p>
            <a:pPr>
              <a:defRPr sz="1800"/>
            </a:pPr>
            <a:r>
              <a:t>7. Сохраняйте успешные промпты с продвинутыми техниками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29335C"/>
                </a:solidFill>
              </a:defRPr>
            </a:pPr>
            <a:r>
              <a:t>🎯 ПЕРЕХОДИМ К ПРАКТИКЕ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3200400"/>
            <a:ext cx="64008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/>
            </a:pPr>
            <a:r>
              <a:t>1. CoT на математических задачах (30 мин)</a:t>
            </a:r>
          </a:p>
          <a:p>
            <a:pPr>
              <a:defRPr sz="2200"/>
            </a:pPr>
            <a:r>
              <a:t>2. ToT для творческих задач (30 мин)</a:t>
            </a:r>
          </a:p>
          <a:p>
            <a:pPr>
              <a:defRPr sz="2200"/>
            </a:pPr>
            <a:r>
              <a:t>3. Self-Consistency (15 мин)</a:t>
            </a:r>
          </a:p>
          <a:p>
            <a:pPr>
              <a:defRPr sz="2200"/>
            </a:pPr>
            <a:r>
              <a:t>4. Создание 'мыслящих' промптов (15 мин)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ЧТО МЫ УЗНАЛИ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✓ Chain-of-Thought (CoT) → Пошаговое рассуждение</a:t>
            </a:r>
          </a:p>
          <a:p/>
          <a:p>
            <a:pPr>
              <a:defRPr sz="2000"/>
            </a:pPr>
            <a:r>
              <a:t>✓ Tree of Thoughts (ToT) → Множественные варианты</a:t>
            </a:r>
          </a:p>
          <a:p/>
          <a:p>
            <a:pPr>
              <a:defRPr sz="2000"/>
            </a:pPr>
            <a:r>
              <a:t>✓ Self-Consistency → Повышение точности</a:t>
            </a:r>
          </a:p>
          <a:p/>
          <a:p>
            <a:pPr>
              <a:defRPr sz="2000"/>
            </a:pPr>
            <a:r>
              <a:t>✓ ReAct → Рассуждение + действие</a:t>
            </a:r>
          </a:p>
          <a:p/>
          <a:p>
            <a:pPr>
              <a:defRPr sz="2000"/>
            </a:pPr>
            <a:r>
              <a:t>✓ Meta-prompting → Создание промптов промптами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