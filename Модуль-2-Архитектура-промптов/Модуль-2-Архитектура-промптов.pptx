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335C"/>
                </a:solidFill>
              </a:defRPr>
            </a:pPr>
            <a:r>
              <a:t>АРХИТЕКТУРА ЭФФЕКТИВНЫХ ПРОМПТОВ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Модуль 2 | От хаоса к системе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КОМПОНЕНТА ЭФФЕКТИВНОГО ПРОМПТА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РОЛЬ (Who)</a:t>
            </a:r>
          </a:p>
          <a:p>
            <a:pPr lvl="1">
              <a:defRPr sz="2000"/>
            </a:pPr>
            <a:r>
              <a:t>   └ Кто ты? Эксперт по...</a:t>
            </a:r>
          </a:p>
          <a:p>
            <a:pPr/>
          </a:p>
          <a:p>
            <a:pPr>
              <a:defRPr sz="2400"/>
            </a:pPr>
            <a:r>
              <a:t>2. КОНТЕКСТ (What)</a:t>
            </a:r>
          </a:p>
          <a:p>
            <a:pPr lvl="1">
              <a:defRPr sz="2000"/>
            </a:pPr>
            <a:r>
              <a:t>   └ Аудитория, цель, тон</a:t>
            </a:r>
          </a:p>
          <a:p/>
          <a:p>
            <a:pPr>
              <a:defRPr sz="2400"/>
            </a:pPr>
            <a:r>
              <a:t>3. ИНСТРУКЦИЯ (How)</a:t>
            </a:r>
          </a:p>
          <a:p>
            <a:pPr lvl="1">
              <a:defRPr sz="2000"/>
            </a:pPr>
            <a:r>
              <a:t>   └ Что конкретно сделать?</a:t>
            </a:r>
          </a:p>
          <a:p/>
          <a:p>
            <a:pPr>
              <a:defRPr sz="2400"/>
            </a:pPr>
            <a:r>
              <a:t>4. ФОРМАТ (Output)</a:t>
            </a:r>
          </a:p>
          <a:p>
            <a:pPr lvl="1">
              <a:defRPr sz="2000"/>
            </a:pPr>
            <a:r>
              <a:t>   └ JSON, Markdown, список...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ПЛОХОЙ vs ХОРОШИЙ ПРОМПТ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C80000"/>
                </a:solidFill>
              </a:defRPr>
            </a:pPr>
            <a:r>
              <a:t>❌ ПЛОХОЙ:</a:t>
            </a:r>
          </a:p>
          <a:p>
            <a:pPr lvl="1">
              <a:defRPr sz="2000"/>
            </a:pPr>
            <a:r>
              <a:t>   "Напиши статью про маркетинг"</a:t>
            </a:r>
          </a:p>
          <a:p/>
          <a:p>
            <a:pPr>
              <a:defRPr sz="2800" b="1">
                <a:solidFill>
                  <a:srgbClr val="009600"/>
                </a:solidFill>
              </a:defRPr>
            </a:pPr>
            <a:r>
              <a:t>✅ ХОРОШИЙ:</a:t>
            </a:r>
          </a:p>
          <a:p>
            <a:pPr lvl="1">
              <a:defRPr sz="1800"/>
            </a:pPr>
            <a:r>
              <a:t>   Ты – эксперт по контент-маркетингу</a:t>
            </a:r>
          </a:p>
          <a:p>
            <a:pPr lvl="1">
              <a:defRPr sz="1800"/>
            </a:pPr>
            <a:r>
              <a:t>   Контекст: B2B, маркетологи, вебинар</a:t>
            </a:r>
          </a:p>
          <a:p>
            <a:pPr lvl="1">
              <a:defRPr sz="1800"/>
            </a:pPr>
            <a:r>
              <a:t>   Задача: статья на 1000 слов</a:t>
            </a:r>
          </a:p>
          <a:p>
            <a:pPr lvl="1">
              <a:defRPr sz="1800"/>
            </a:pPr>
            <a:r>
              <a:t>   Формат: введение + 5 пунктов + CTA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ФРЕЙМВОРКА ПРОМПТИНГА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RISEN  → Бизнес-анализ, стратегия</a:t>
            </a:r>
          </a:p>
          <a:p/>
          <a:p>
            <a:pPr>
              <a:defRPr sz="2400"/>
            </a:pPr>
            <a:r>
              <a:t>CRISPE → Креатив, идеи, слоганы</a:t>
            </a:r>
          </a:p>
          <a:p/>
          <a:p>
            <a:pPr>
              <a:defRPr sz="2400"/>
            </a:pPr>
            <a:r>
              <a:t>CREATE → Контент, статьи, гайды</a:t>
            </a:r>
          </a:p>
          <a:p/>
          <a:p>
            <a:pPr>
              <a:defRPr sz="2400"/>
            </a:pPr>
            <a:r>
              <a:t>RTF    → Быстрые задачи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RISEN - для бизнес-задач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 – Role (Роль)</a:t>
            </a:r>
          </a:p>
          <a:p>
            <a:pPr>
              <a:defRPr sz="2200"/>
            </a:pPr>
            <a:r>
              <a:t>I – Input (Данные)</a:t>
            </a:r>
          </a:p>
          <a:p>
            <a:pPr>
              <a:defRPr sz="2200"/>
            </a:pPr>
            <a:r>
              <a:t>S – Steps (Шаги)</a:t>
            </a:r>
          </a:p>
          <a:p>
            <a:pPr>
              <a:defRPr sz="2200"/>
            </a:pPr>
            <a:r>
              <a:t>E – Expectation (Результат)</a:t>
            </a:r>
          </a:p>
          <a:p>
            <a:pPr>
              <a:defRPr sz="2200"/>
            </a:pPr>
            <a:r>
              <a:t>N – Narrowing (Ограничения)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CRISPE - для креатива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 – Capacity/Role (Роль)</a:t>
            </a:r>
          </a:p>
          <a:p>
            <a:pPr>
              <a:defRPr sz="2000"/>
            </a:pPr>
            <a:r>
              <a:t>R – Insight (Инсайт)</a:t>
            </a:r>
          </a:p>
          <a:p>
            <a:pPr>
              <a:defRPr sz="2000"/>
            </a:pPr>
            <a:r>
              <a:t>I – Statement (Утверждение)</a:t>
            </a:r>
          </a:p>
          <a:p>
            <a:pPr>
              <a:defRPr sz="2000"/>
            </a:pPr>
            <a:r>
              <a:t>S – Personality (Стиль)</a:t>
            </a:r>
          </a:p>
          <a:p>
            <a:pPr>
              <a:defRPr sz="2000"/>
            </a:pPr>
            <a:r>
              <a:t>P – Experiment (Варианты)</a:t>
            </a:r>
          </a:p>
          <a:p>
            <a:pPr>
              <a:defRPr sz="2000"/>
            </a:pPr>
            <a:r>
              <a:t>E – Expectation (Результат)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- для контента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 – Character (Персонаж)</a:t>
            </a:r>
          </a:p>
          <a:p>
            <a:pPr>
              <a:defRPr sz="2000"/>
            </a:pPr>
            <a:r>
              <a:t>R – Request (Запрос)</a:t>
            </a:r>
          </a:p>
          <a:p>
            <a:pPr>
              <a:defRPr sz="2000"/>
            </a:pPr>
            <a:r>
              <a:t>E – Examples (Примеры)</a:t>
            </a:r>
          </a:p>
          <a:p>
            <a:pPr>
              <a:defRPr sz="2000"/>
            </a:pPr>
            <a:r>
              <a:t>A – Adjustments (Стиль)</a:t>
            </a:r>
          </a:p>
          <a:p>
            <a:pPr>
              <a:defRPr sz="2000"/>
            </a:pPr>
            <a:r>
              <a:t>T – Type (Формат)</a:t>
            </a:r>
          </a:p>
          <a:p>
            <a:pPr>
              <a:defRPr sz="2000"/>
            </a:pPr>
            <a:r>
              <a:t>E – Extras (Дополнительно)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RTF - для быстрых задач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R – Role (Роль)</a:t>
            </a:r>
          </a:p>
          <a:p/>
          <a:p>
            <a:pPr>
              <a:defRPr sz="2800"/>
            </a:pPr>
            <a:r>
              <a:t>T – Task (Задача)</a:t>
            </a:r>
          </a:p>
          <a:p/>
          <a:p>
            <a:pPr>
              <a:defRPr sz="2800"/>
            </a:pPr>
            <a:r>
              <a:t>F – Format (Формат)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КАКОЙ ФРЕЙМВОРК ВЫБРАТЬ?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RISEN   → Анализ, стратегия, данные</a:t>
            </a:r>
          </a:p>
          <a:p/>
          <a:p>
            <a:pPr>
              <a:defRPr sz="2200"/>
            </a:pPr>
            <a:r>
              <a:t>CRISPE  → Креатив, идеи, слоганы</a:t>
            </a:r>
          </a:p>
          <a:p/>
          <a:p>
            <a:pPr>
              <a:defRPr sz="2200"/>
            </a:pPr>
            <a:r>
              <a:t>CREATE  → Статьи, гайды, контент</a:t>
            </a:r>
          </a:p>
          <a:p/>
          <a:p>
            <a:pPr>
              <a:defRPr sz="2200"/>
            </a:pPr>
            <a:r>
              <a:t>RTF     → Быстрые запросы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ТОКЕНЫ И ЛИМИТЫ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 токен ≈ 0.75 слова (англ)</a:t>
            </a:r>
          </a:p>
          <a:p>
            <a:pPr>
              <a:defRPr sz="2400"/>
            </a:pPr>
            <a:r>
              <a:t>1 токен ≈ 0.5 слова (рус)</a:t>
            </a:r>
          </a:p>
          <a:p>
            <a:pPr>
              <a:defRPr b="1" sz="2200"/>
            </a:pPr>
            <a:r>
              <a:t>ChatGPT: 40 сообщений / 3 часа</a:t>
            </a:r>
          </a:p>
          <a:p>
            <a:pPr>
              <a:defRPr sz="2000"/>
            </a:pPr>
            <a:r>
              <a:t>Claude: ~50 сообщений / 4 часа</a:t>
            </a:r>
          </a:p>
          <a:p/>
          <a:p>
            <a:pPr>
              <a:defRPr sz="2400" i="1"/>
            </a:pPr>
            <a:r>
              <a:t>💡 Совет: Пишите короче и точнее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СТРУКТУРИРОВАННЫЙ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JSON  → Данные, API</a:t>
            </a:r>
          </a:p>
          <a:p>
            <a:pPr>
              <a:defRPr sz="2400"/>
            </a:pPr>
            <a:r>
              <a:t>Markdown → Документы</a:t>
            </a:r>
          </a:p>
          <a:p>
            <a:pPr>
              <a:defRPr sz="2400"/>
            </a:pPr>
            <a:r>
              <a:t>CSV  → Таблицы</a:t>
            </a:r>
          </a:p>
          <a:p>
            <a:pPr>
              <a:defRPr sz="2400"/>
            </a:pPr>
            <a:r>
              <a:t>XML  → Конфигурации</a:t>
            </a:r>
          </a:p>
          <a:p/>
          <a:p>
            <a:pPr>
              <a:defRPr sz="2000" i="1"/>
            </a:pPr>
            <a:r>
              <a:t>💡 Всегда показывайте пример структуры!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ПРАВИЛ ЭФФЕКТИВНЫХ ПРОМПТОВ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Будьте специфичны</a:t>
            </a:r>
          </a:p>
          <a:p>
            <a:pPr>
              <a:defRPr sz="1800"/>
            </a:pPr>
            <a:r>
              <a:t>2. Используйте примеры</a:t>
            </a:r>
          </a:p>
          <a:p>
            <a:pPr>
              <a:defRPr sz="1800"/>
            </a:pPr>
            <a:r>
              <a:t>3. Разбивайте сложное</a:t>
            </a:r>
          </a:p>
          <a:p>
            <a:pPr>
              <a:defRPr sz="1800"/>
            </a:pPr>
            <a:r>
              <a:t>4. Указывайте формат</a:t>
            </a:r>
          </a:p>
          <a:p>
            <a:pPr>
              <a:defRPr sz="1800"/>
            </a:pPr>
            <a:r>
              <a:t>5. Итерируйте (улучшайте)</a:t>
            </a:r>
          </a:p>
          <a:p>
            <a:pPr>
              <a:defRPr sz="1800"/>
            </a:pPr>
            <a:r>
              <a:t>6. Тестируйте на разных моделях</a:t>
            </a:r>
          </a:p>
          <a:p>
            <a:pPr>
              <a:defRPr sz="1800"/>
            </a:pPr>
            <a:r>
              <a:t>7. Создавайте библиотеку шаблонов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335C"/>
                </a:solidFill>
              </a:defRPr>
            </a:pPr>
            <a:r>
              <a:t>🎯 ПЕРЕХОДИМ К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Применять фреймворки (30 мин)</a:t>
            </a:r>
          </a:p>
          <a:p>
            <a:pPr>
              <a:defRPr sz="2400"/>
            </a:pPr>
            <a:r>
              <a:t>• Структурированный вывод (25 мин)</a:t>
            </a:r>
          </a:p>
          <a:p/>
          <a:p>
            <a:pPr>
              <a:defRPr sz="2800" b="1"/>
            </a:pPr>
            <a:r>
              <a:t>Минимум 7 промптов на занятии!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